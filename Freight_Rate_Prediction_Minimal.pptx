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20fb8202414101" /><Relationship Type="http://schemas.openxmlformats.org/officeDocument/2006/relationships/extended-properties" Target="/docProps/app.xml" Id="R2787e30e7ef1442d" /><Relationship Type="http://schemas.openxmlformats.org/officeDocument/2006/relationships/officeDocument" Target="/ppt/presentation.xml" Id="R2c8dd7ec67ae40c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3e8101a1424069"/>
  </p:sldMasterIdLst>
  <p:notesMasterIdLst>
    <p:notesMasterId xmlns:r="http://schemas.openxmlformats.org/officeDocument/2006/relationships" r:id="Rcd4abb426ccf447d"/>
  </p:notesMasterIdLst>
  <p:sldIdLst>
    <p:sldId xmlns:r="http://schemas.openxmlformats.org/officeDocument/2006/relationships" id="256" r:id="Rcf86448669ed4023"/>
    <p:sldId xmlns:r="http://schemas.openxmlformats.org/officeDocument/2006/relationships" id="257" r:id="R0c1a67bee5244fff"/>
    <p:sldId xmlns:r="http://schemas.openxmlformats.org/officeDocument/2006/relationships" id="258" r:id="R04ccacafe2cb4690"/>
    <p:sldId xmlns:r="http://schemas.openxmlformats.org/officeDocument/2006/relationships" id="259" r:id="Re599986d9dca435c"/>
    <p:sldId xmlns:r="http://schemas.openxmlformats.org/officeDocument/2006/relationships" id="260" r:id="R69d14c9f3a364157"/>
    <p:sldId xmlns:r="http://schemas.openxmlformats.org/officeDocument/2006/relationships" id="261" r:id="R371d5acc953b4483"/>
    <p:sldId xmlns:r="http://schemas.openxmlformats.org/officeDocument/2006/relationships" id="262" r:id="R8378c8fa517e4155"/>
    <p:sldId xmlns:r="http://schemas.openxmlformats.org/officeDocument/2006/relationships" id="263" r:id="R3dfecbeb1edf464c"/>
    <p:sldId xmlns:r="http://schemas.openxmlformats.org/officeDocument/2006/relationships" id="264" r:id="Rcb64ec6250064ea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1ff58bb5d0047a7" /><Relationship Type="http://schemas.openxmlformats.org/officeDocument/2006/relationships/slideMaster" Target="/ppt/slideMasters/slideMaster1.xml" Id="Rf53e8101a1424069" /><Relationship Type="http://schemas.openxmlformats.org/officeDocument/2006/relationships/notesMaster" Target="/ppt/notesMasters/notesMaster1.xml" Id="Rcd4abb426ccf447d" /><Relationship Type="http://schemas.openxmlformats.org/officeDocument/2006/relationships/presProps" Target="/ppt/presProps.xml" Id="R057cb9b809c24131" /><Relationship Type="http://schemas.openxmlformats.org/officeDocument/2006/relationships/tableStyles" Target="/ppt/tableStyles.xml" Id="R03ce9d3d48624539" /><Relationship Type="http://schemas.openxmlformats.org/officeDocument/2006/relationships/slide" Target="/ppt/slides/slide1.xml" Id="Rcf86448669ed4023" /><Relationship Type="http://schemas.openxmlformats.org/officeDocument/2006/relationships/slide" Target="/ppt/slides/slide2.xml" Id="R0c1a67bee5244fff" /><Relationship Type="http://schemas.openxmlformats.org/officeDocument/2006/relationships/slide" Target="/ppt/slides/slide3.xml" Id="R04ccacafe2cb4690" /><Relationship Type="http://schemas.openxmlformats.org/officeDocument/2006/relationships/slide" Target="/ppt/slides/slide4.xml" Id="Re599986d9dca435c" /><Relationship Type="http://schemas.openxmlformats.org/officeDocument/2006/relationships/slide" Target="/ppt/slides/slide5.xml" Id="R69d14c9f3a364157" /><Relationship Type="http://schemas.openxmlformats.org/officeDocument/2006/relationships/slide" Target="/ppt/slides/slide6.xml" Id="R371d5acc953b4483" /><Relationship Type="http://schemas.openxmlformats.org/officeDocument/2006/relationships/slide" Target="/ppt/slides/slide7.xml" Id="R8378c8fa517e4155" /><Relationship Type="http://schemas.openxmlformats.org/officeDocument/2006/relationships/slide" Target="/ppt/slides/slide8.xml" Id="R3dfecbeb1edf464c" /><Relationship Type="http://schemas.openxmlformats.org/officeDocument/2006/relationships/slide" Target="/ppt/slides/slide9.xml" Id="Rcb64ec6250064ea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c52b24bb6a444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ec9a18f47d4e27" /><Relationship Type="http://schemas.openxmlformats.org/officeDocument/2006/relationships/notesMaster" Target="/ppt/notesMasters/notesMaster1.xml" Id="R05d5953cada3436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1a0cd4b2ba1413c" /><Relationship Type="http://schemas.openxmlformats.org/officeDocument/2006/relationships/notesMaster" Target="/ppt/notesMasters/notesMaster1.xml" Id="R9edf7109e7fa43d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404c4b6f688431f" /><Relationship Type="http://schemas.openxmlformats.org/officeDocument/2006/relationships/notesMaster" Target="/ppt/notesMasters/notesMaster1.xml" Id="R5df4663bb72a4c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a3175b2ecd14cbd" /><Relationship Type="http://schemas.openxmlformats.org/officeDocument/2006/relationships/notesMaster" Target="/ppt/notesMasters/notesMaster1.xml" Id="R9e84654c58b44de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2fa012814884adf" /><Relationship Type="http://schemas.openxmlformats.org/officeDocument/2006/relationships/notesMaster" Target="/ppt/notesMasters/notesMaster1.xml" Id="R9b4d77c97d7d4f5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bc2ed4cff8441b3" /><Relationship Type="http://schemas.openxmlformats.org/officeDocument/2006/relationships/notesMaster" Target="/ppt/notesMasters/notesMaster1.xml" Id="R6f830df8691f49b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5469f1c3000445a" /><Relationship Type="http://schemas.openxmlformats.org/officeDocument/2006/relationships/notesMaster" Target="/ppt/notesMasters/notesMaster1.xml" Id="R0478d3ca13aa4ed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54a000cf0434c2d" /><Relationship Type="http://schemas.openxmlformats.org/officeDocument/2006/relationships/notesMaster" Target="/ppt/notesMasters/notesMaster1.xml" Id="R9454931666b0424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2c7ff7ed4024fcb" /><Relationship Type="http://schemas.openxmlformats.org/officeDocument/2006/relationships/notesMaster" Target="/ppt/notesMasters/notesMaster1.xml" Id="Ra51f6cee6aab4cf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REPORT.md — assessment title and scope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REPORT.md §2 and §4 — training and validation periods</a:t>
            </a:r>
          </a:p>
          <a:p xmlns:a="http://schemas.openxmlformats.org/drawingml/2006/main">
            <a:r>
              <a:t>- SPEC.md — data split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REPORT.md §2 — relationship between rate, distance, and market index</a:t>
            </a:r>
          </a:p>
          <a:p xmlns:a="http://schemas.openxmlformats.org/drawingml/2006/main">
            <a:r>
              <a:t>- results/leaderboard_v1_full.csv — baseline model results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REPORT.md §3 — coordinate audit and correlation result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REPORT.md §4 — expanding-window validation</a:t>
            </a:r>
          </a:p>
          <a:p xmlns:a="http://schemas.openxmlformats.org/drawingml/2006/main">
            <a:r>
              <a:t>- src/data.py — time folds</a:t>
            </a:r>
          </a:p>
          <a:p xmlns:a="http://schemas.openxmlformats.org/drawingml/2006/main">
            <a:r>
              <a:t>- src/features_v2.py — fold-level target encoding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results/leaderboard_v1_full.csv — baseline Ridge metrics</a:t>
            </a:r>
          </a:p>
          <a:p xmlns:a="http://schemas.openxmlformats.org/drawingml/2006/main">
            <a:r>
              <a:t>- results/leaderboard_v2_full.csv — log-target Ridge metrics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results/leaderboard_tuned.csv — tuned CatBoost, XGBoost, and LightGBM</a:t>
            </a:r>
          </a:p>
          <a:p xmlns:a="http://schemas.openxmlformats.org/drawingml/2006/main">
            <a:r>
              <a:t>- results/final_selection.csv — Ridge result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results/final_selection.csv — model composition and final cross-validation metrics</a:t>
            </a:r>
          </a:p>
          <a:p xmlns:a="http://schemas.openxmlformats.org/drawingml/2006/main">
            <a:r>
              <a:t>- REPORT.md §7 — final model selection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REPORT.md §4 and §8 — full and reduced model definitions</a:t>
            </a:r>
          </a:p>
          <a:p xmlns:a="http://schemas.openxmlformats.org/drawingml/2006/main">
            <a:r>
              <a:t>- SPEC.md — validation and December output requirements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ee9f3070c449f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0cbd3592a25446e" /><Relationship Type="http://schemas.openxmlformats.org/officeDocument/2006/relationships/slideLayout" Target="/ppt/slideLayouts/slideLayout1.xml" Id="R6009bcd8c2bb49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009bcd8c2bb49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a249a11e8e4c51" /><Relationship Type="http://schemas.openxmlformats.org/officeDocument/2006/relationships/notesSlide" Target="/ppt/notesSlides/notesSlide1.xml" Id="R896c1510174242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307bd62dca4314" /><Relationship Type="http://schemas.openxmlformats.org/officeDocument/2006/relationships/notesSlide" Target="/ppt/notesSlides/notesSlide2.xml" Id="Rb4839099a5d6486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89a7e888eb4e43" /><Relationship Type="http://schemas.openxmlformats.org/officeDocument/2006/relationships/notesSlide" Target="/ppt/notesSlides/notesSlide3.xml" Id="R39ffe7529bfb4ed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f9d48ee16445d4" /><Relationship Type="http://schemas.openxmlformats.org/officeDocument/2006/relationships/notesSlide" Target="/ppt/notesSlides/notesSlide4.xml" Id="R463d6ed8283842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4d087a9d2743e1" /><Relationship Type="http://schemas.openxmlformats.org/officeDocument/2006/relationships/notesSlide" Target="/ppt/notesSlides/notesSlide5.xml" Id="R81f9490f27cb45d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7adb79f41c4d6a" /><Relationship Type="http://schemas.openxmlformats.org/officeDocument/2006/relationships/notesSlide" Target="/ppt/notesSlides/notesSlide6.xml" Id="Rfd4150eb14ff4e1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2ef55b69034141" /><Relationship Type="http://schemas.openxmlformats.org/officeDocument/2006/relationships/notesSlide" Target="/ppt/notesSlides/notesSlide7.xml" Id="Rdd5caeb4e1ba46a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dbece1127441a3" /><Relationship Type="http://schemas.openxmlformats.org/officeDocument/2006/relationships/notesSlide" Target="/ppt/notesSlides/notesSlide8.xml" Id="R464937c77f96443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9f9302aa7648ca" /><Relationship Type="http://schemas.openxmlformats.org/officeDocument/2006/relationships/notesSlide" Target="/ppt/notesSlides/notesSlide9.xml" Id="R9042c8f618b54c7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4943A7-DFDF-493E-A9B8-59E14094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rPr>
              <a:t>SPOTTER ML ENGINEER ASSESSMENT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228F5C-729A-4B4E-B453-DCFF9F44E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7429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63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63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Freight Rate</a:t>
            </a:r>
          </a:p>
          <a:p xmlns:a="http://schemas.openxmlformats.org/drawingml/2006/main">
            <a:pPr algn="l">
              <a:defRPr sz="63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63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Prediction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A55AEB-DE4A-468C-8598-223AA8E34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685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Approach, results, and lessons learned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B55BD1-696A-44FC-9FB5-C0EEFD46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714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FF7"/>
          </a:solidFill>
          <a:ln xmlns:a="http://schemas.openxmlformats.org/drawingml/2006/main" w="0">
            <a:solidFill>
              <a:srgbClr val="2F7FF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7817967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D0ADBE5A-4E6C-4070-ACF0-FBF28F3A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This is a forecasting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EF3E5B-61C7-4F5A-9C38-7F313C6C5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334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cxnSp>
        <p:nvCxnSpPr>
          <p:cNvPr id="14" name=""/>
          <p:cNvCxnSpPr/>
          <p:nvPr/>
        </p:nvCxnSpPr>
        <p:spPr>
          <a:xfrm xmlns:a="http://schemas.openxmlformats.org/drawingml/2006/main">
            <a:off x="685800" y="12573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5240D9-96D6-479E-9E6F-0144DF8F5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42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49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48,000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680E3-9864-469E-9F4C-7E0D8A7B7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training loads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C055C3-C6E0-4A1F-AFAF-78A596482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428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January–October 2025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065B26-AD4B-404F-9812-5BDB25DA3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809750"/>
            <a:ext cx="342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95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495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rPr>
              <a:t>12,000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266335-029C-45BD-A2E5-33812523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670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validation loads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0DF1C4-2C8E-4DD5-9CDF-7A97F7FB3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43250"/>
            <a:ext cx="457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November–December 2025</a:t>
            </a:r>
          </a:p>
        </p:txBody>
      </p:sp>
      <p:cxnSp>
        <p:nvCxnSpPr>
          <p:cNvPr id="21" name=""/>
          <p:cNvCxnSpPr/>
          <p:nvPr/>
        </p:nvCxnSpPr>
        <p:spPr>
          <a:xfrm xmlns:a="http://schemas.openxmlformats.org/drawingml/2006/main">
            <a:off x="685800" y="421005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D18E0B-E188-4F89-A516-5625C416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9906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The model predicts future months from past data. A random split does not represent that task.</a:t>
            </a:r>
          </a:p>
        </p:txBody>
      </p:sp>
    </p:spTree>
    <p:extLst>
      <p:ext uri="{BB962C8B-B14F-4D97-AF65-F5344CB8AC3E}">
        <p14:creationId xmlns:p14="http://schemas.microsoft.com/office/powerpoint/2010/main" val="11834597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32397ED5-09E1-4A6D-B234-25164365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Distance is the main pricing signal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0BB0DB-2265-4B38-904E-0B19F277A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334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cxnSp>
        <p:nvCxnSpPr>
          <p:cNvPr id="11" name=""/>
          <p:cNvCxnSpPr/>
          <p:nvPr/>
        </p:nvCxnSpPr>
        <p:spPr>
          <a:xfrm xmlns:a="http://schemas.openxmlformats.org/drawingml/2006/main">
            <a:off x="685800" y="12573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CEB6DF-AFC8-4BE3-8F71-D449F3DEF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8763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Freight rates are strongly related to distance and market conditions.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1E8D63-29A4-4D56-933B-3EB85A2EE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A Ridge regression performed as well as more complex models in the first experiment.</a:t>
            </a:r>
          </a:p>
        </p:txBody>
      </p:sp>
      <p:cxnSp>
        <p:nvCxnSpPr>
          <p:cNvPr id="14" name=""/>
          <p:cNvCxnSpPr/>
          <p:nvPr/>
        </p:nvCxnSpPr>
        <p:spPr>
          <a:xfrm xmlns:a="http://schemas.openxmlformats.org/drawingml/2006/main">
            <a:off x="685800" y="47625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ED947F-0B21-4134-BB91-189E9283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Baseline Ridge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12E03E-0D35-41A2-812B-8BFFBC257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05450"/>
            <a:ext cx="342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rPr>
              <a:t>RMSE 633.9</a:t>
            </a:r>
          </a:p>
        </p:txBody>
      </p:sp>
    </p:spTree>
    <p:extLst>
      <p:ext uri="{BB962C8B-B14F-4D97-AF65-F5344CB8AC3E}">
        <p14:creationId xmlns:p14="http://schemas.microsoft.com/office/powerpoint/2010/main" val="2952816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1819098B-7BFE-46DC-8365-89248D486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The coordinates are redundant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C917EB-ADFB-4D8C-8587-15D3F749E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334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cxnSp>
        <p:nvCxnSpPr>
          <p:cNvPr id="11" name=""/>
          <p:cNvCxnSpPr/>
          <p:nvPr/>
        </p:nvCxnSpPr>
        <p:spPr>
          <a:xfrm xmlns:a="http://schemas.openxmlformats.org/drawingml/2006/main">
            <a:off x="685800" y="12573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9C2465-971F-4EE4-9CCD-9717D22B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4953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690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690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rPr>
              <a:t>0.9995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3C3E29-4445-4704-B1A9-FC69309B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657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Correlation between haversine distance and the provided distance</a:t>
            </a:r>
          </a:p>
        </p:txBody>
      </p:sp>
      <p:cxnSp>
        <p:nvCxnSpPr>
          <p:cNvPr id="14" name=""/>
          <p:cNvCxnSpPr/>
          <p:nvPr/>
        </p:nvCxnSpPr>
        <p:spPr>
          <a:xfrm xmlns:a="http://schemas.openxmlformats.org/drawingml/2006/main">
            <a:off x="685800" y="409575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95712E-BA79-4A01-ACBD-492E05344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876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The city coordinates are synthetic.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02C0D9-AD9C-481E-88E6-10C881BD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895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The provided distance was kept as the main geographic feature.</a:t>
            </a:r>
          </a:p>
        </p:txBody>
      </p:sp>
    </p:spTree>
    <p:extLst>
      <p:ext uri="{BB962C8B-B14F-4D97-AF65-F5344CB8AC3E}">
        <p14:creationId xmlns:p14="http://schemas.microsoft.com/office/powerpoint/2010/main" val="8425704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0A0F8FD6-2217-4EE1-9F88-CBB581F0F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Validation follows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3B5742-EC9F-4454-9821-B84339B41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334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cxnSp>
        <p:nvCxnSpPr>
          <p:cNvPr id="18" name=""/>
          <p:cNvCxnSpPr/>
          <p:nvPr/>
        </p:nvCxnSpPr>
        <p:spPr>
          <a:xfrm xmlns:a="http://schemas.openxmlformats.org/drawingml/2006/main">
            <a:off x="685800" y="12573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cxnSp>
        <p:nvCxnSpPr>
          <p:cNvPr id="19" name=""/>
          <p:cNvCxnSpPr/>
          <p:nvPr/>
        </p:nvCxnSpPr>
        <p:spPr>
          <a:xfrm xmlns:a="http://schemas.openxmlformats.org/drawingml/2006/main">
            <a:off x="1104900" y="2724150"/>
            <a:ext cx="9715500" cy="9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318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0A41F5-9204-43EB-ADCB-AE66B093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6384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0">
            <a:solidFill>
              <a:srgbClr val="11131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130D57-7BEF-49EC-B95D-4D03885D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6384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0">
            <a:solidFill>
              <a:srgbClr val="11131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FF068-B457-4513-A9D1-12DC346B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384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0">
            <a:solidFill>
              <a:srgbClr val="11131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8F3D1D-6ECE-47A4-BCFF-44D31EFB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432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Train through July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69AD26-09F4-4671-A3E9-FD0586C5B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F7F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F7FF7"/>
                </a:solidFill>
                <a:latin typeface="Helvetica Neue"/>
                <a:ea typeface="Helvetica Neue"/>
                <a:cs typeface="Helvetica Neue"/>
              </a:rPr>
              <a:t>Test August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77D4CB-6DA6-4F2F-BFAC-BA451EAA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1432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Train through Aug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B34010-86EF-4A9E-949E-0AB187A61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6385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F7F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F7FF7"/>
                </a:solidFill>
                <a:latin typeface="Helvetica Neue"/>
                <a:ea typeface="Helvetica Neue"/>
                <a:cs typeface="Helvetica Neue"/>
              </a:rPr>
              <a:t>Test September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09D4EA-B6F9-4CE8-95E8-92CE32F4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432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Train through Sep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6E32F0-486A-4863-B58E-701FECE5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6385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F7F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F7FF7"/>
                </a:solidFill>
                <a:latin typeface="Helvetica Neue"/>
                <a:ea typeface="Helvetica Neue"/>
                <a:cs typeface="Helvetica Neue"/>
              </a:rPr>
              <a:t>Test October</a:t>
            </a:r>
          </a:p>
        </p:txBody>
      </p:sp>
      <p:cxnSp>
        <p:nvCxnSpPr>
          <p:cNvPr id="29" name=""/>
          <p:cNvCxnSpPr/>
          <p:nvPr/>
        </p:nvCxnSpPr>
        <p:spPr>
          <a:xfrm xmlns:a="http://schemas.openxmlformats.org/drawingml/2006/main">
            <a:off x="685800" y="46482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C08E49-8F42-4E32-A4C4-A996C5F21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Target encoding was fitted separately inside each fold.</a:t>
            </a:r>
          </a:p>
        </p:txBody>
      </p:sp>
    </p:spTree>
    <p:extLst>
      <p:ext uri="{BB962C8B-B14F-4D97-AF65-F5344CB8AC3E}">
        <p14:creationId xmlns:p14="http://schemas.microsoft.com/office/powerpoint/2010/main" val="9639368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3264DE08-07EB-4D9E-BDB8-629C249B9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Log(rate) reduced percentage error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226248-A8DC-4CCF-A3F6-8C0B3BC27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334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cxnSp>
        <p:nvCxnSpPr>
          <p:cNvPr id="19" name=""/>
          <p:cNvCxnSpPr/>
          <p:nvPr/>
        </p:nvCxnSpPr>
        <p:spPr>
          <a:xfrm xmlns:a="http://schemas.openxmlformats.org/drawingml/2006/main">
            <a:off x="685800" y="12573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AE20B7-802C-411C-8B47-9006A0EBC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Approach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3DC89B-AB97-4989-8325-9D59DB13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907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RMSE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88CE5E-0983-4704-91A8-D2CB272E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907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MAPE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685800" y="226695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9F3FB7-8045-40D8-AAB2-BCB72017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4191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Baseline Ridge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14A1DB-30C6-4B35-868E-FB9D7BAAD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670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24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633.9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491B9B-087A-4047-8AE2-EA4B96ED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66700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24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8.4%</a:t>
            </a:r>
          </a:p>
        </p:txBody>
      </p:sp>
      <p:cxnSp>
        <p:nvCxnSpPr>
          <p:cNvPr id="27" name=""/>
          <p:cNvCxnSpPr/>
          <p:nvPr/>
        </p:nvCxnSpPr>
        <p:spPr>
          <a:xfrm xmlns:a="http://schemas.openxmlformats.org/drawingml/2006/main">
            <a:off x="685800" y="33528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F120BE-07C5-4077-A739-1EC671D7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Ridge with log target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552FAF-1B0C-4488-9EAA-B65CBB6CC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528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633.0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D9D226-F320-4BE6-AF91-4B5A5F4FD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75285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rPr>
              <a:t>5.8%</a:t>
            </a:r>
          </a:p>
        </p:txBody>
      </p:sp>
      <p:cxnSp>
        <p:nvCxnSpPr>
          <p:cNvPr id="31" name=""/>
          <p:cNvCxnSpPr/>
          <p:nvPr/>
        </p:nvCxnSpPr>
        <p:spPr>
          <a:xfrm xmlns:a="http://schemas.openxmlformats.org/drawingml/2006/main">
            <a:off x="685800" y="443865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B7955F-8DAD-47BB-922B-33146CDB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971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The target transformation improved MAPE without materially changing RMSE.</a:t>
            </a:r>
          </a:p>
        </p:txBody>
      </p:sp>
    </p:spTree>
    <p:extLst>
      <p:ext uri="{BB962C8B-B14F-4D97-AF65-F5344CB8AC3E}">
        <p14:creationId xmlns:p14="http://schemas.microsoft.com/office/powerpoint/2010/main" val="5210463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60902232-3AF6-47E7-8565-E0A4FF99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Complex models reached similar RMSE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741503-E6A2-485F-BF35-3B3C49FB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334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cxnSp>
        <p:nvCxnSpPr>
          <p:cNvPr id="22" name=""/>
          <p:cNvCxnSpPr/>
          <p:nvPr/>
        </p:nvCxnSpPr>
        <p:spPr>
          <a:xfrm xmlns:a="http://schemas.openxmlformats.org/drawingml/2006/main">
            <a:off x="685800" y="12573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CE0CEA-9F8A-47A8-AD75-305243962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Model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D03F43-78FE-461D-A2B7-3F526618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95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RMSE</a:t>
            </a:r>
          </a:p>
        </p:txBody>
      </p:sp>
      <p:cxnSp>
        <p:nvCxnSpPr>
          <p:cNvPr id="25" name=""/>
          <p:cNvCxnSpPr/>
          <p:nvPr/>
        </p:nvCxnSpPr>
        <p:spPr>
          <a:xfrm xmlns:a="http://schemas.openxmlformats.org/drawingml/2006/main">
            <a:off x="685800" y="21336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1E2449-86AF-4E94-82E7-833955435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CatBoost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81AB12-F2C7-41B1-8B6B-8F984769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003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22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631.6</a:t>
            </a:r>
          </a:p>
        </p:txBody>
      </p:sp>
      <p:cxnSp>
        <p:nvCxnSpPr>
          <p:cNvPr id="28" name=""/>
          <p:cNvCxnSpPr/>
          <p:nvPr/>
        </p:nvCxnSpPr>
        <p:spPr>
          <a:xfrm xmlns:a="http://schemas.openxmlformats.org/drawingml/2006/main">
            <a:off x="685800" y="291465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C70678-5868-4D13-961D-0F16F30A5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Ridge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E77B78-E7A0-44A4-9A4B-268EFB46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861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633.2</a:t>
            </a:r>
          </a:p>
        </p:txBody>
      </p:sp>
      <p:cxnSp>
        <p:nvCxnSpPr>
          <p:cNvPr id="31" name=""/>
          <p:cNvCxnSpPr/>
          <p:nvPr/>
        </p:nvCxnSpPr>
        <p:spPr>
          <a:xfrm xmlns:a="http://schemas.openxmlformats.org/drawingml/2006/main">
            <a:off x="685800" y="360045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9E93C3-4F42-4C8C-BAAF-A3719BC7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XGBoost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18862D-6C2C-40C5-957D-0E07089F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7719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635.2</a:t>
            </a:r>
          </a:p>
        </p:txBody>
      </p:sp>
      <p:cxnSp>
        <p:nvCxnSpPr>
          <p:cNvPr id="34" name=""/>
          <p:cNvCxnSpPr/>
          <p:nvPr/>
        </p:nvCxnSpPr>
        <p:spPr>
          <a:xfrm xmlns:a="http://schemas.openxmlformats.org/drawingml/2006/main">
            <a:off x="685800" y="428625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88CC2D-EACD-4F98-9CE5-BE0ACA9E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LightGBM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1D74B3-E106-4118-B8C0-0D23A8B7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4577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635.4</a:t>
            </a:r>
          </a:p>
        </p:txBody>
      </p:sp>
      <p:cxnSp>
        <p:nvCxnSpPr>
          <p:cNvPr id="37" name=""/>
          <p:cNvCxnSpPr/>
          <p:nvPr/>
        </p:nvCxnSpPr>
        <p:spPr>
          <a:xfrm xmlns:a="http://schemas.openxmlformats.org/drawingml/2006/main">
            <a:off x="685800" y="497205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01BC8E-17FE-42D3-9A14-6FFA1C97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The strongest results fall within a narrow range: 631.6–635.4 RMSE.</a:t>
            </a:r>
          </a:p>
        </p:txBody>
      </p:sp>
    </p:spTree>
    <p:extLst>
      <p:ext uri="{BB962C8B-B14F-4D97-AF65-F5344CB8AC3E}">
        <p14:creationId xmlns:p14="http://schemas.microsoft.com/office/powerpoint/2010/main" val="2154655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BC8BAC94-2480-44C3-AF22-7A070551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Final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8BCFC9-3585-4817-95F1-0E711674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334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cxnSp>
        <p:nvCxnSpPr>
          <p:cNvPr id="18" name=""/>
          <p:cNvCxnSpPr/>
          <p:nvPr/>
        </p:nvCxnSpPr>
        <p:spPr>
          <a:xfrm xmlns:a="http://schemas.openxmlformats.org/drawingml/2006/main">
            <a:off x="685800" y="12573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660012-A23D-4C2B-8BA3-BBB86A8C0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rPr>
              <a:t>Equal-weight average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C59547-85CA-487E-AF3F-7DE43FBD3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CatBoost + Ridge + XGBoost</a:t>
            </a:r>
          </a:p>
        </p:txBody>
      </p:sp>
      <p:cxnSp>
        <p:nvCxnSpPr>
          <p:cNvPr id="21" name=""/>
          <p:cNvCxnSpPr/>
          <p:nvPr/>
        </p:nvCxnSpPr>
        <p:spPr>
          <a:xfrm xmlns:a="http://schemas.openxmlformats.org/drawingml/2006/main">
            <a:off x="685800" y="340995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484670-B6E1-4A39-B811-3F0C8A0C8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RMSE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83AFE6-312F-48F7-B1A9-1E2649CD6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631.7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E82F04-C1A2-4254-BE29-1E015EB9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052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MAE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509F79-0BA9-4537-90D5-B86E2AB6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624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123.9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100F53-62FC-4127-87BD-CE7239EA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052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MAPE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008DD9-8C38-4AD9-94C5-8604C1594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624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5.6%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1998A4-5752-468A-9518-2A49E077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9052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R²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5479CA-0BDB-4055-BCAF-C8E9359A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3624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0.825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38D2DA-00BF-4ABA-9543-2AAE19C3B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981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The average narrowly outperformed the best single model on out-of-fold predictions.</a:t>
            </a:r>
          </a:p>
        </p:txBody>
      </p:sp>
    </p:spTree>
    <p:extLst>
      <p:ext uri="{BB962C8B-B14F-4D97-AF65-F5344CB8AC3E}">
        <p14:creationId xmlns:p14="http://schemas.microsoft.com/office/powerpoint/2010/main" val="20115783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276BF675-A489-42F8-94E9-6CF8E4FC3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Two prediction files required two models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316796-15ED-4728-9D2B-22619F78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334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cxnSp>
        <p:nvCxnSpPr>
          <p:cNvPr id="15" name=""/>
          <p:cNvCxnSpPr/>
          <p:nvPr/>
        </p:nvCxnSpPr>
        <p:spPr>
          <a:xfrm xmlns:a="http://schemas.openxmlformats.org/drawingml/2006/main">
            <a:off x="685800" y="1257300"/>
            <a:ext cx="10820400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57EA3F-541D-4E63-8AB2-EE9C2451E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Validation predictions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08DA61-BE35-4EE9-89AF-ABC3CFBD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rPr>
              <a:t>12,000 rows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655537-B6F0-423A-BF0C-2F8F5F66C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4476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Used all available columns and the three-model average.</a:t>
            </a:r>
          </a:p>
        </p:txBody>
      </p:sp>
      <p:cxnSp>
        <p:nvCxnSpPr>
          <p:cNvPr id="19" name=""/>
          <p:cNvCxnSpPr/>
          <p:nvPr/>
        </p:nvCxnSpPr>
        <p:spPr>
          <a:xfrm xmlns:a="http://schemas.openxmlformats.org/drawingml/2006/main">
            <a:off x="6096000" y="1809750"/>
            <a:ext cx="95" cy="95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cxnSp>
        <p:nvCxnSpPr>
          <p:cNvPr id="20" name=""/>
          <p:cNvCxnSpPr/>
          <p:nvPr/>
        </p:nvCxnSpPr>
        <p:spPr>
          <a:xfrm xmlns:a="http://schemas.openxmlformats.org/drawingml/2006/main">
            <a:off x="6096000" y="1809750"/>
            <a:ext cx="95" cy="33337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6DAE0"/>
            </a:solidFill>
            <a:prstDash val="soli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6DB765-6819-41BB-A1B1-2CEB42E0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431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December predictions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198BB6-4FA7-493F-9BAE-19BE8F923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527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F7FF7"/>
                </a:solidFill>
                <a:latin typeface="Helvetica Neue"/>
                <a:ea typeface="Helvetica Neue"/>
                <a:cs typeface="Helvetica Neue"/>
              </a:rPr>
              <a:t>31 daily rows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910FF0-2D81-40FA-AA0C-DCFE282B0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62300"/>
            <a:ext cx="4476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Used the six shared columns and a reduced CatBoost model.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FD28F1-070D-4221-B03D-5A6167A3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626A78"/>
                </a:solidFill>
                <a:latin typeface="Helvetica Neue"/>
                <a:ea typeface="Helvetica Neue"/>
                <a:cs typeface="Helvetica Neue"/>
              </a:rPr>
              <a:t>The model matched the columns available for each output.</a:t>
            </a:r>
          </a:p>
        </p:txBody>
      </p:sp>
    </p:spTree>
    <p:extLst>
      <p:ext uri="{BB962C8B-B14F-4D97-AF65-F5344CB8AC3E}">
        <p14:creationId xmlns:p14="http://schemas.microsoft.com/office/powerpoint/2010/main" val="5320690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2026-08-30T14:21:44.1470000Z</dcterms:created>
  <dcterms:modified xsi:type="dcterms:W3CDTF">2026-08-30T14:21:44.1480000Z</dcterms:modified>
</coreProperties>
</file>