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6e673673194daa" /><Relationship Type="http://schemas.openxmlformats.org/officeDocument/2006/relationships/extended-properties" Target="/docProps/app.xml" Id="R35362428d8454aa0" /><Relationship Type="http://schemas.openxmlformats.org/officeDocument/2006/relationships/officeDocument" Target="/ppt/presentation.xml" Id="R83746e8368d64b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d3162e6bb84f37"/>
  </p:sldMasterIdLst>
  <p:notesMasterIdLst>
    <p:notesMasterId xmlns:r="http://schemas.openxmlformats.org/officeDocument/2006/relationships" r:id="R4eb002b0f4424885"/>
  </p:notesMasterIdLst>
  <p:sldIdLst>
    <p:sldId xmlns:r="http://schemas.openxmlformats.org/officeDocument/2006/relationships" id="256" r:id="R8a31018273954495"/>
    <p:sldId xmlns:r="http://schemas.openxmlformats.org/officeDocument/2006/relationships" id="257" r:id="Rf411b1886d434e83"/>
    <p:sldId xmlns:r="http://schemas.openxmlformats.org/officeDocument/2006/relationships" id="258" r:id="Rcc841ba790d447e4"/>
    <p:sldId xmlns:r="http://schemas.openxmlformats.org/officeDocument/2006/relationships" id="259" r:id="R1083195135bb45b5"/>
    <p:sldId xmlns:r="http://schemas.openxmlformats.org/officeDocument/2006/relationships" id="260" r:id="R0e54a8e872674091"/>
    <p:sldId xmlns:r="http://schemas.openxmlformats.org/officeDocument/2006/relationships" id="261" r:id="R1231ebdadde94e42"/>
    <p:sldId xmlns:r="http://schemas.openxmlformats.org/officeDocument/2006/relationships" id="262" r:id="Rd72ff2fdccad4bf1"/>
    <p:sldId xmlns:r="http://schemas.openxmlformats.org/officeDocument/2006/relationships" id="263" r:id="R47dcc91601584559"/>
    <p:sldId xmlns:r="http://schemas.openxmlformats.org/officeDocument/2006/relationships" id="264" r:id="R248075a88d744fb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61fe3aa11b448d" /><Relationship Type="http://schemas.openxmlformats.org/officeDocument/2006/relationships/slideMaster" Target="/ppt/slideMasters/slideMaster1.xml" Id="R7ed3162e6bb84f37" /><Relationship Type="http://schemas.openxmlformats.org/officeDocument/2006/relationships/notesMaster" Target="/ppt/notesMasters/notesMaster1.xml" Id="R4eb002b0f4424885" /><Relationship Type="http://schemas.openxmlformats.org/officeDocument/2006/relationships/presProps" Target="/ppt/presProps.xml" Id="R6e66d9fb0e1e4a85" /><Relationship Type="http://schemas.openxmlformats.org/officeDocument/2006/relationships/tableStyles" Target="/ppt/tableStyles.xml" Id="R07e33bcccd9d479e" /><Relationship Type="http://schemas.openxmlformats.org/officeDocument/2006/relationships/slide" Target="/ppt/slides/slide1.xml" Id="R8a31018273954495" /><Relationship Type="http://schemas.openxmlformats.org/officeDocument/2006/relationships/slide" Target="/ppt/slides/slide2.xml" Id="Rf411b1886d434e83" /><Relationship Type="http://schemas.openxmlformats.org/officeDocument/2006/relationships/slide" Target="/ppt/slides/slide3.xml" Id="Rcc841ba790d447e4" /><Relationship Type="http://schemas.openxmlformats.org/officeDocument/2006/relationships/slide" Target="/ppt/slides/slide4.xml" Id="R1083195135bb45b5" /><Relationship Type="http://schemas.openxmlformats.org/officeDocument/2006/relationships/slide" Target="/ppt/slides/slide5.xml" Id="R0e54a8e872674091" /><Relationship Type="http://schemas.openxmlformats.org/officeDocument/2006/relationships/slide" Target="/ppt/slides/slide6.xml" Id="R1231ebdadde94e42" /><Relationship Type="http://schemas.openxmlformats.org/officeDocument/2006/relationships/slide" Target="/ppt/slides/slide7.xml" Id="Rd72ff2fdccad4bf1" /><Relationship Type="http://schemas.openxmlformats.org/officeDocument/2006/relationships/slide" Target="/ppt/slides/slide8.xml" Id="R47dcc91601584559" /><Relationship Type="http://schemas.openxmlformats.org/officeDocument/2006/relationships/slide" Target="/ppt/slides/slide9.xml" Id="R248075a88d744f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47bbe84ee343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76c0e358e94f15" /><Relationship Type="http://schemas.openxmlformats.org/officeDocument/2006/relationships/notesMaster" Target="/ppt/notesMasters/notesMaster1.xml" Id="R11bd590e8a8644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7b74ff111d4d96" /><Relationship Type="http://schemas.openxmlformats.org/officeDocument/2006/relationships/notesMaster" Target="/ppt/notesMasters/notesMaster1.xml" Id="R60957933071b4e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c305914d90480a" /><Relationship Type="http://schemas.openxmlformats.org/officeDocument/2006/relationships/notesMaster" Target="/ppt/notesMasters/notesMaster1.xml" Id="R0cf819f7130a40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2220a9152b4840" /><Relationship Type="http://schemas.openxmlformats.org/officeDocument/2006/relationships/notesMaster" Target="/ppt/notesMasters/notesMaster1.xml" Id="R0faf32d092734a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2133adfec14788" /><Relationship Type="http://schemas.openxmlformats.org/officeDocument/2006/relationships/notesMaster" Target="/ppt/notesMasters/notesMaster1.xml" Id="R2c268a031e5341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8687d030c048d1" /><Relationship Type="http://schemas.openxmlformats.org/officeDocument/2006/relationships/notesMaster" Target="/ppt/notesMasters/notesMaster1.xml" Id="R3ede993e368149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dab9b3e502441c" /><Relationship Type="http://schemas.openxmlformats.org/officeDocument/2006/relationships/notesMaster" Target="/ppt/notesMasters/notesMaster1.xml" Id="R93f3918b778449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7c86bee0464125" /><Relationship Type="http://schemas.openxmlformats.org/officeDocument/2006/relationships/notesMaster" Target="/ppt/notesMasters/notesMaster1.xml" Id="R304cac78105648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d69e52043749c6" /><Relationship Type="http://schemas.openxmlformats.org/officeDocument/2006/relationships/notesMaster" Target="/ppt/notesMasters/notesMaster1.xml" Id="Rbf318bda7dbe48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— assessment title and scope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§2 and §4 — training and validation periods</a:t>
            </a:r>
          </a:p>
          <a:p xmlns:a="http://schemas.openxmlformats.org/drawingml/2006/main">
            <a:r>
              <a:t>- SPEC.md — data split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§2 — relationship between rate, distance, and market index</a:t>
            </a:r>
          </a:p>
          <a:p xmlns:a="http://schemas.openxmlformats.org/drawingml/2006/main">
            <a:r>
              <a:t>- results/leaderboard_v1_full.csv — baseline model results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§3 — coordinate audit and correlation result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§4 — expanding-window validation</a:t>
            </a:r>
          </a:p>
          <a:p xmlns:a="http://schemas.openxmlformats.org/drawingml/2006/main">
            <a:r>
              <a:t>- src/data.py — time folds</a:t>
            </a:r>
          </a:p>
          <a:p xmlns:a="http://schemas.openxmlformats.org/drawingml/2006/main">
            <a:r>
              <a:t>- src/features_v2.py — fold-level target encoding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results/leaderboard_v1_full.csv — baseline Ridge metrics</a:t>
            </a:r>
          </a:p>
          <a:p xmlns:a="http://schemas.openxmlformats.org/drawingml/2006/main">
            <a:r>
              <a:t>- results/leaderboard_v2_full.csv — log-target Ridge metrics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results/final_selection.csv — corrected single-model results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results/final_selection.csv — model composition and final cross-validation metrics</a:t>
            </a:r>
          </a:p>
          <a:p xmlns:a="http://schemas.openxmlformats.org/drawingml/2006/main">
            <a:r>
              <a:t>- REPORT.md §7 — final model selection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§4 and §8 — full and reduced model definitions</a:t>
            </a:r>
          </a:p>
          <a:p xmlns:a="http://schemas.openxmlformats.org/drawingml/2006/main">
            <a:r>
              <a:t>- SPEC.md — validation and December output requirements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9b011c94ef40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efb7838d384a3c" /><Relationship Type="http://schemas.openxmlformats.org/officeDocument/2006/relationships/slideLayout" Target="/ppt/slideLayouts/slideLayout1.xml" Id="Rc0dcbf60f58945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cbf60f58945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f7dcd0bc94d53" /><Relationship Type="http://schemas.openxmlformats.org/officeDocument/2006/relationships/notesSlide" Target="/ppt/notesSlides/notesSlide1.xml" Id="R1b32b5be85884a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098fb7c54488a" /><Relationship Type="http://schemas.openxmlformats.org/officeDocument/2006/relationships/notesSlide" Target="/ppt/notesSlides/notesSlide2.xml" Id="Rc86a0b4ec11749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6194789394005" /><Relationship Type="http://schemas.openxmlformats.org/officeDocument/2006/relationships/notesSlide" Target="/ppt/notesSlides/notesSlide3.xml" Id="R823cb26f20eb40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6f57a038948a4" /><Relationship Type="http://schemas.openxmlformats.org/officeDocument/2006/relationships/notesSlide" Target="/ppt/notesSlides/notesSlide4.xml" Id="R6efacc0d6f8a4c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d81ebb9e744c0" /><Relationship Type="http://schemas.openxmlformats.org/officeDocument/2006/relationships/notesSlide" Target="/ppt/notesSlides/notesSlide5.xml" Id="R1435989d34ff4b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9980a7eba4525" /><Relationship Type="http://schemas.openxmlformats.org/officeDocument/2006/relationships/notesSlide" Target="/ppt/notesSlides/notesSlide6.xml" Id="R4f98d6eaa6304c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11da964ce4c37" /><Relationship Type="http://schemas.openxmlformats.org/officeDocument/2006/relationships/notesSlide" Target="/ppt/notesSlides/notesSlide7.xml" Id="Rd7ab7afe6bb346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5dd1f83c84dca" /><Relationship Type="http://schemas.openxmlformats.org/officeDocument/2006/relationships/notesSlide" Target="/ppt/notesSlides/notesSlide8.xml" Id="R41061c65a23d4e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af3f001b740b5" /><Relationship Type="http://schemas.openxmlformats.org/officeDocument/2006/relationships/notesSlide" Target="/ppt/notesSlides/notesSlide9.xml" Id="R9ac37154071b4c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943A7-DFDF-493E-A9B8-59E14094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SPOTTER ML ENGINEER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28F5C-729A-4B4E-B453-DCFF9F44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7429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Freight Rate</a:t>
            </a:r>
          </a:p>
          <a:p xmlns:a="http://schemas.openxmlformats.org/drawingml/2006/main">
            <a:pPr algn="l">
              <a:buNone/>
              <a:def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55AEB-DE4A-468C-8598-223AA8E3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Approach, results, and lessons learned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B55BD1-696A-44FC-9FB5-C0EEFD46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714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FF7"/>
          </a:solidFill>
          <a:ln xmlns:a="http://schemas.openxmlformats.org/drawingml/2006/main" w="0">
            <a:solidFill>
              <a:srgbClr val="2F7FF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81796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D0ADBE5A-4E6C-4070-ACF0-FBF28F3A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This is a forecasting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F3E5B-61C7-4F5A-9C38-7F313C6C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cxnSp>
        <p:nvCxnSpPr>
          <p:cNvPr id="54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5240D9-96D6-479E-9E6F-0144DF8F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48,000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680E3-9864-469E-9F4C-7E0D8A7B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training loads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055C3-C6E0-4A1F-AFAF-78A59648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January–October 2025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65B26-AD4B-404F-9812-5BDB25DA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097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12,000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66335-029C-45BD-A2E5-33812523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validation loads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DF1C4-2C8E-4DD5-9CDF-7A97F7FB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4325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November–December 2025</a:t>
            </a:r>
          </a:p>
        </p:txBody>
      </p:sp>
      <p:cxnSp>
        <p:nvCxnSpPr>
          <p:cNvPr id="61" name=""/>
          <p:cNvCxnSpPr/>
          <p:nvPr/>
        </p:nvCxnSpPr>
        <p:spPr>
          <a:xfrm xmlns:a="http://schemas.openxmlformats.org/drawingml/2006/main">
            <a:off x="685800" y="42100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18E0B-E188-4F89-A516-5625C416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990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model predicts future months from past data. A random split does not represent that task.</a:t>
            </a:r>
          </a:p>
        </p:txBody>
      </p:sp>
    </p:spTree>
    <p:extLst>
      <p:ext uri="{BB962C8B-B14F-4D97-AF65-F5344CB8AC3E}">
        <p14:creationId xmlns:p14="http://schemas.microsoft.com/office/powerpoint/2010/main" val="11834597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32397ED5-09E1-4A6D-B234-25164365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Distance is the main pricing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BB0DB-2265-4B38-904E-0B19F277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EB6DF-AFC8-4BE3-8F71-D449F3DE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763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Freight rates are strongly related to distance and market conditions.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E8D63-29A4-4D56-933B-3EB85A2E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A Ridge regression performed as well as more complex models in the first experiment.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685800" y="47625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D947F-0B21-4134-BB91-189E9283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Baseline Ridge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2E03E-0D35-41A2-812B-8BFFBC25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342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RMSE 633.9</a:t>
            </a:r>
          </a:p>
        </p:txBody>
      </p:sp>
    </p:spTree>
    <p:extLst>
      <p:ext uri="{BB962C8B-B14F-4D97-AF65-F5344CB8AC3E}">
        <p14:creationId xmlns:p14="http://schemas.microsoft.com/office/powerpoint/2010/main" val="2952816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819098B-7BFE-46DC-8365-89248D48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coordinates are redundant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917EB-ADFB-4D8C-8587-15D3F749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C2465-971F-4EE4-9CCD-9717D22B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495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69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0.9995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C3E29-4445-4704-B1A9-FC69309B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Correlation between haversine distance and the provided distance</a:t>
            </a:r>
          </a:p>
        </p:txBody>
      </p:sp>
      <p:cxnSp>
        <p:nvCxnSpPr>
          <p:cNvPr id="38" name=""/>
          <p:cNvCxnSpPr/>
          <p:nvPr/>
        </p:nvCxnSpPr>
        <p:spPr>
          <a:xfrm xmlns:a="http://schemas.openxmlformats.org/drawingml/2006/main">
            <a:off x="685800" y="40957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95712E-BA79-4A01-ACBD-492E0534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city coordinates are synthetic.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02C0D9-AD9C-481E-88E6-10C881BD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provided distance was kept as the main geographic feature.</a:t>
            </a:r>
          </a:p>
        </p:txBody>
      </p:sp>
    </p:spTree>
    <p:extLst>
      <p:ext uri="{BB962C8B-B14F-4D97-AF65-F5344CB8AC3E}">
        <p14:creationId xmlns:p14="http://schemas.microsoft.com/office/powerpoint/2010/main" val="8425704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A0F8FD6-2217-4EE1-9F88-CBB581F0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Validation follows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3B5742-EC9F-4454-9821-B84339B4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cxnSp>
        <p:nvCxnSpPr>
          <p:cNvPr id="74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cxnSp>
        <p:nvCxnSpPr>
          <p:cNvPr id="75" name=""/>
          <p:cNvCxnSpPr/>
          <p:nvPr/>
        </p:nvCxnSpPr>
        <p:spPr>
          <a:xfrm xmlns:a="http://schemas.openxmlformats.org/drawingml/2006/main">
            <a:off x="1104900" y="2724150"/>
            <a:ext cx="97155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318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A41F5-9204-43EB-ADCB-AE66B093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384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solidFill>
              <a:srgbClr val="11131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30D57-7BEF-49EC-B95D-4D03885D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384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solidFill>
              <a:srgbClr val="11131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F068-B457-4513-A9D1-12DC346B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384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solidFill>
              <a:srgbClr val="111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F3D1D-6ECE-47A4-BCFF-44D31EFB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Train through July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9AD26-09F4-4671-A3E9-FD0586C5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Test August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7D4CB-6DA6-4F2F-BFAC-BA451EAA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432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Train through Aug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34010-86EF-4A9E-949E-0AB187A6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Test September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09D4EA-B6F9-4CE8-95E8-92CE32F4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432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Train through Sep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6E32F0-486A-4863-B58E-701FECE5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385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Test October</a:t>
            </a:r>
          </a:p>
        </p:txBody>
      </p:sp>
      <p:cxnSp>
        <p:nvCxnSpPr>
          <p:cNvPr id="85" name=""/>
          <p:cNvCxnSpPr/>
          <p:nvPr/>
        </p:nvCxnSpPr>
        <p:spPr>
          <a:xfrm xmlns:a="http://schemas.openxmlformats.org/drawingml/2006/main">
            <a:off x="685800" y="46482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08E49-8F42-4E32-A4C4-A996C5F2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Target encoding and label screening used training rows only.</a:t>
            </a:r>
          </a:p>
        </p:txBody>
      </p:sp>
    </p:spTree>
    <p:extLst>
      <p:ext uri="{BB962C8B-B14F-4D97-AF65-F5344CB8AC3E}">
        <p14:creationId xmlns:p14="http://schemas.microsoft.com/office/powerpoint/2010/main" val="9639368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264DE08-07EB-4D9E-BDB8-629C249B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Log(rate) reduced percentage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26248-A8DC-4CCF-A3F6-8C0B3BC2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cxnSp>
        <p:nvCxnSpPr>
          <p:cNvPr id="79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E20B7-802C-411C-8B47-9006A0EB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Approach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DC89B-AB97-4989-8325-9D59DB13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907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8CE5E-0983-4704-91A8-D2CB272E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MAPE</a:t>
            </a:r>
          </a:p>
        </p:txBody>
      </p:sp>
      <p:cxnSp>
        <p:nvCxnSpPr>
          <p:cNvPr id="83" name=""/>
          <p:cNvCxnSpPr/>
          <p:nvPr/>
        </p:nvCxnSpPr>
        <p:spPr>
          <a:xfrm xmlns:a="http://schemas.openxmlformats.org/drawingml/2006/main">
            <a:off x="685800" y="22669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F3FB7-8045-40D8-AAB2-BCB72017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19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Baseline Ridge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4A1DB-30C6-4B35-868E-FB9D7BAA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633.9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491B9B-087A-4047-8AE2-EA4B96ED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70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8.4%</a:t>
            </a:r>
          </a:p>
        </p:txBody>
      </p:sp>
      <p:cxnSp>
        <p:nvCxnSpPr>
          <p:cNvPr id="87" name=""/>
          <p:cNvCxnSpPr/>
          <p:nvPr/>
        </p:nvCxnSpPr>
        <p:spPr>
          <a:xfrm xmlns:a="http://schemas.openxmlformats.org/drawingml/2006/main">
            <a:off x="685800" y="33528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120BE-07C5-4077-A739-1EC671D7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Ridge with log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52FAF-1B0C-4488-9EAA-B65CBB6C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528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633.0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9D226-F320-4BE6-AF91-4B5A5F4F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528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4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5.8%</a:t>
            </a:r>
          </a:p>
        </p:txBody>
      </p:sp>
      <p:cxnSp>
        <p:nvCxnSpPr>
          <p:cNvPr id="91" name=""/>
          <p:cNvCxnSpPr/>
          <p:nvPr/>
        </p:nvCxnSpPr>
        <p:spPr>
          <a:xfrm xmlns:a="http://schemas.openxmlformats.org/drawingml/2006/main">
            <a:off x="685800" y="44386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B7955F-8DAD-47BB-922B-33146CDB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971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target transformation improved MAPE without materially changing RMSE.</a:t>
            </a:r>
          </a:p>
        </p:txBody>
      </p:sp>
    </p:spTree>
    <p:extLst>
      <p:ext uri="{BB962C8B-B14F-4D97-AF65-F5344CB8AC3E}">
        <p14:creationId xmlns:p14="http://schemas.microsoft.com/office/powerpoint/2010/main" val="5210463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60902232-3AF6-47E7-8565-E0A4FF99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Native categories gave the best RMSE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41503-E6A2-485F-BF35-3B3C49FB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cxnSp>
        <p:nvCxnSpPr>
          <p:cNvPr id="94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E0CEA-9F8A-47A8-AD75-30524396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03F43-78FE-461D-A2B7-3F526618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9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cxnSp>
        <p:nvCxnSpPr>
          <p:cNvPr id="97" name=""/>
          <p:cNvCxnSpPr/>
          <p:nvPr/>
        </p:nvCxnSpPr>
        <p:spPr>
          <a:xfrm xmlns:a="http://schemas.openxmlformats.org/drawingml/2006/main">
            <a:off x="685800" y="21336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E2449-86AF-4E94-82E7-83395543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Native LightGBM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1AB12-F2C7-41B1-8B6B-8F984769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003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2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628.7</a:t>
            </a:r>
          </a:p>
        </p:txBody>
      </p:sp>
      <p:cxnSp>
        <p:nvCxnSpPr>
          <p:cNvPr id="100" name=""/>
          <p:cNvCxnSpPr/>
          <p:nvPr/>
        </p:nvCxnSpPr>
        <p:spPr>
          <a:xfrm xmlns:a="http://schemas.openxmlformats.org/drawingml/2006/main">
            <a:off x="685800" y="29146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70678-5868-4D13-961D-0F16F30A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Three-model blend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E77B78-E7A0-44A4-9A4B-268EFB46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861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629.0</a:t>
            </a:r>
          </a:p>
        </p:txBody>
      </p:sp>
      <p:cxnSp>
        <p:nvCxnSpPr>
          <p:cNvPr id="103" name=""/>
          <p:cNvCxnSpPr/>
          <p:nvPr/>
        </p:nvCxnSpPr>
        <p:spPr>
          <a:xfrm xmlns:a="http://schemas.openxmlformats.org/drawingml/2006/main">
            <a:off x="685800" y="36004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E93C3-4F42-4C8C-BAAF-A3719BC7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LightGBM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8862D-6C2C-40C5-957D-0E07089F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71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629.9</a:t>
            </a:r>
          </a:p>
        </p:txBody>
      </p:sp>
      <p:cxnSp>
        <p:nvCxnSpPr>
          <p:cNvPr id="106" name=""/>
          <p:cNvCxnSpPr/>
          <p:nvPr/>
        </p:nvCxnSpPr>
        <p:spPr>
          <a:xfrm xmlns:a="http://schemas.openxmlformats.org/drawingml/2006/main">
            <a:off x="685800" y="42862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88CC2D-EACD-4F98-9CE5-BE0ACA9E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CatBoost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1D74B3-E106-4118-B8C0-0D23A8B7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57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630.1</a:t>
            </a:r>
          </a:p>
        </p:txBody>
      </p:sp>
      <p:cxnSp>
        <p:nvCxnSpPr>
          <p:cNvPr id="109" name=""/>
          <p:cNvCxnSpPr/>
          <p:nvPr/>
        </p:nvCxnSpPr>
        <p:spPr>
          <a:xfrm xmlns:a="http://schemas.openxmlformats.org/drawingml/2006/main">
            <a:off x="685800" y="49720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01BC8E-17FE-42D3-9A14-6FFA1C97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Native categories beat the best blend by 0.3 RMSE.</a:t>
            </a:r>
          </a:p>
        </p:txBody>
      </p:sp>
    </p:spTree>
    <p:extLst>
      <p:ext uri="{BB962C8B-B14F-4D97-AF65-F5344CB8AC3E}">
        <p14:creationId xmlns:p14="http://schemas.microsoft.com/office/powerpoint/2010/main" val="2154655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BC8BAC94-2480-44C3-AF22-7A070551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Final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BCFC9-3585-4817-95F1-0E711674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cxnSp>
        <p:nvCxnSpPr>
          <p:cNvPr id="42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60012-A23D-4C2B-8BA3-BBB86A8C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Single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59547-85CA-487E-AF3F-7DE43FBD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Native-categorical LightGBM</a:t>
            </a:r>
          </a:p>
        </p:txBody>
      </p:sp>
      <p:cxnSp>
        <p:nvCxnSpPr>
          <p:cNvPr id="45" name=""/>
          <p:cNvCxnSpPr/>
          <p:nvPr/>
        </p:nvCxnSpPr>
        <p:spPr>
          <a:xfrm xmlns:a="http://schemas.openxmlformats.org/drawingml/2006/main">
            <a:off x="685800" y="34099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84670-B6E1-4A39-B811-3F0C8A0C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83AFE6-312F-48F7-B1A9-1E2649CD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628.7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82F04-C1A2-4254-BE29-1E015EB9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09F79-0BA9-4537-90D5-B86E2AB6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113.8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00F53-62FC-4127-87BD-CE7239EA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MAPE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08DD9-8C38-4AD9-94C5-8604C159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5.11%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998A4-5752-468A-9518-2A49E077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5479CA-0BDB-4055-BCAF-C8E9359A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0.8265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8D2DA-00BF-4ABA-9543-2AAE19C3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Native categories produced the lowest out-of-fold error.</a:t>
            </a:r>
          </a:p>
        </p:txBody>
      </p:sp>
    </p:spTree>
    <p:extLst>
      <p:ext uri="{BB962C8B-B14F-4D97-AF65-F5344CB8AC3E}">
        <p14:creationId xmlns:p14="http://schemas.microsoft.com/office/powerpoint/2010/main" val="2011578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76BF675-A489-42F8-94E9-6CF8E4FC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Two prediction files required two models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16796-15ED-4728-9D2B-22619F78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cxnSp>
        <p:nvCxnSpPr>
          <p:cNvPr id="47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7EA3F-541D-4E63-8AB2-EE9C2451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Validation predictions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8DA61-BE35-4EE9-89AF-ABC3CFBD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12,000 rows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55537-B6F0-423A-BF0C-2F8F5F66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Used all columns and the selected native LightGBM model.</a:t>
            </a:r>
          </a:p>
        </p:txBody>
      </p:sp>
      <p:cxnSp>
        <p:nvCxnSpPr>
          <p:cNvPr id="51" name=""/>
          <p:cNvCxnSpPr/>
          <p:nvPr/>
        </p:nvCxnSpPr>
        <p:spPr>
          <a:xfrm xmlns:a="http://schemas.openxmlformats.org/drawingml/2006/main">
            <a:off x="6096000" y="1809750"/>
            <a:ext cx="9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cxnSp>
        <p:nvCxnSpPr>
          <p:cNvPr id="52" name=""/>
          <p:cNvCxnSpPr/>
          <p:nvPr/>
        </p:nvCxnSpPr>
        <p:spPr>
          <a:xfrm xmlns:a="http://schemas.openxmlformats.org/drawingml/2006/main">
            <a:off x="6096000" y="1809750"/>
            <a:ext cx="95" cy="33337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DB765-6819-41BB-A1B1-2CEB42E0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December predictions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98BB6-4FA7-493F-9BAE-19BE8F92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31 daily 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910FF0-2D81-40FA-AA0C-DCFE282B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62300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Used the six shared columns and a reduced CatBoost model.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D28F1-070D-4221-B03D-5A6167A3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The model matched the columns available for each output.</a:t>
            </a:r>
          </a:p>
        </p:txBody>
      </p:sp>
    </p:spTree>
    <p:extLst>
      <p:ext uri="{BB962C8B-B14F-4D97-AF65-F5344CB8AC3E}">
        <p14:creationId xmlns:p14="http://schemas.microsoft.com/office/powerpoint/2010/main" val="532069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2026-08-30T17:22:41.6730000Z</dcterms:created>
  <dcterms:modified xsi:type="dcterms:W3CDTF">2026-08-30T17:22:41.6730000Z</dcterms:modified>
</coreProperties>
</file>